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274320"/>
            <a:ext cx="1920240" cy="54864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BITS PILANI  •  WILP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A8A8"/>
                </a:solidFill>
              </a:rPr>
              <a:t>ARCHON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Arch-Aware Context Network for Tooth Enumeration
and Severity-Aware Dental Disease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7315200" cy="36576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4F8"/>
                </a:solidFill>
              </a:rPr>
              <a:t>M.Tech Dissertation  |  Department of CSIS  |  BITS Pilani – WILP
Supervisor: [Supervisor Name]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8A8"/>
                </a:solidFill>
              </a:rPr>
              <a:t>Dataset: DENTEX Challenge 2023  •  Baseline: YOLOrtho (arXiv:2308.05967)  •  GPU: NVIDIA T4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37760"/>
            <a:ext cx="2651760" cy="14630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A8"/>
                </a:solidFill>
              </a:rPr>
              <a:t>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 Targeted Improvements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937760"/>
            <a:ext cx="2651760" cy="14630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A8"/>
                </a:solidFill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394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DENTEX 2023 Challenge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937760"/>
            <a:ext cx="2651760" cy="14630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A8"/>
                </a:solidFill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94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Severity-Aware JSON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4937760"/>
            <a:ext cx="2651760" cy="14630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A8"/>
                </a:solidFill>
              </a:rPr>
              <a:t>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394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3-Phase Curriculum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Why existing dental AI systems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0332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033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Limitation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Restricted Receptive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429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</a:rPr>
              <a:t>CNN P5 cells see only ~12% of panoramic width.
Leads to midline swap errors (FDI 16 ↔ 26).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70332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703320" cy="50292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161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Limitation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C1B"/>
                </a:solidFill>
              </a:rPr>
              <a:t>Binary-Only Diagnostic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31720"/>
            <a:ext cx="3429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</a:rPr>
              <a:t>All prior methods output only a Yes/No disease flag.
No severity → no triage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70332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703320" cy="5029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161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Limitation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830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8A"/>
                </a:solidFill>
              </a:rPr>
              <a:t>Exposure Sensitivity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31720"/>
            <a:ext cx="3429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</a:rPr>
              <a:t>Posterior bone regions suppress subtle caries/lesion shadows.
Early-stage disease missed during 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ARCHON addresses ALL THREE limitations in a single end-to-end multi-task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Clinical Motivation &amp; DENTEX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MICCAI 2023 Benchmark  |  Panoramic Orthopantomogram (OPG)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74320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A8"/>
                </a:solidFill>
              </a:rPr>
              <a:t>3.5B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People affected by
oral diseases (WHO)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34440"/>
            <a:ext cx="274320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A8"/>
                </a:solidFill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20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FDI tooth classes
(11-18, 21-28, 31-48)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274320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A8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Disease categories
per tooth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234440"/>
            <a:ext cx="274320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A8"/>
                </a:solidFill>
              </a:rPr>
              <a:t>~1,200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920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Training images
(3-tier annotations)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DENTEX 2023 Annotation Hierarchy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46120"/>
            <a:ext cx="210312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7355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3246120"/>
            <a:ext cx="502920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27355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Annotation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3246120"/>
            <a:ext cx="182880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799" y="32735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Flag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93592"/>
            <a:ext cx="210312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611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Part 1 (~300 imgs)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593592"/>
            <a:ext cx="50292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3611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Bounding box + Quadrant label (1–4)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593592"/>
            <a:ext cx="1828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799" y="3611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data_type=0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7764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9959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Part 2 (~500 imgs)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397764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39959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Bbox + Quadrant + Position → FDI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397764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799" y="39959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data_type=1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61688"/>
            <a:ext cx="210312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799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Part 3 (~400 imgs)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4361688"/>
            <a:ext cx="50292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43799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Bbox + FDI + Disease flags (4 attrs)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361688"/>
            <a:ext cx="1828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799" y="43799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data_type=2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745736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7640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Unlabelled (~300)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23160" y="4745736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0" y="47640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Pseudo-labeled via Phase 1 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474573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799" y="47640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data_type=2 (pseudo)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2834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Disease Categories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3246120"/>
            <a:ext cx="2468880" cy="658368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32735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32735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~15%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3977639"/>
            <a:ext cx="246888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40050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~25%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4709160"/>
            <a:ext cx="2468880" cy="65836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0" y="47365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Deep Caries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47365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760" y="5440680"/>
            <a:ext cx="2468880" cy="658368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0" y="54681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Periapical Lesion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54681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~15%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ARCHON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5 improvements over the YOLOrtho baseline — single end-to-end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371600"/>
            <a:ext cx="150876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Input
1280×640
OPG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371600"/>
            <a:ext cx="1508760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46304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YOLOv8x
Backbone
+CoordConv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1508760" cy="12801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6304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GlobalContext
Encoder
(Swin)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371600"/>
            <a:ext cx="1508760" cy="128016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46304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MultiScale
Fusion
(CrossAttn)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371600"/>
            <a:ext cx="150876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46304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Hybrid
MultiTask
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1371600"/>
            <a:ext cx="1508760" cy="12801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46304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Post-
Processing
(LSA+QP)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18288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1371600"/>
            <a:ext cx="150876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146304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Output
JSON
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834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3344"/>
                </a:solidFill>
              </a:rPr>
              <a:t>Feature Maps: P3(320ch, stride8) · P4(640ch, stride16) · P5(640ch, stride32)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91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ARCHON Improvements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384048" cy="8229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931919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7490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A8"/>
                </a:solidFill>
              </a:rPr>
              <a:t>GlobalContextEncoder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1147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Swin Transformer on P5 — full dental arch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749039"/>
            <a:ext cx="384048" cy="82296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3931919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37490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C1B"/>
                </a:solidFill>
              </a:rPr>
              <a:t>MultiScaleFusion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1147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Cross-Attention (Q=CNN, K/V=Swin) at P3/P4/P5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749039"/>
            <a:ext cx="384048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931919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37490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HybridMultiTaskHead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41147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3-level severity: Healthy / Mild / Severe × 4 diseases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846320"/>
            <a:ext cx="384048" cy="8229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02920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846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</a:rPr>
              <a:t>CLAHE Augmentation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212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Stochastic L-channel contrast enhancement (p=0.5)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4846320"/>
            <a:ext cx="384048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502920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4846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Quadrant-Consistency Penalty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5152" y="5212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Hungarian cost matrix penalized by quadrant probs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Backbone: YOLOv8x + CoordConv + Modified FPN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Foundation inherited from YOLOrtho — preserved through all 3 training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Why YOLOv8x (largest variant)?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33344"/>
                </a:solidFill>
              </a:rPr>
              <a:t>▸ 32-class FDI needs maximum discriminative capacity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44"/>
                </a:solidFill>
              </a:rPr>
              <a:t>▸ P5 depth=640ch — critical for symmetric tooth separation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44"/>
                </a:solidFill>
              </a:rPr>
              <a:t>▸ Ultralytics built-in COCO metrics &amp; checkpoint management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33344"/>
                </a:solidFill>
              </a:rPr>
              <a:t>▸ ~68.5M params; VRAM ~12 GB at batch=4 / 1280×640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CoordConv — Breaking Translation Equivariance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Standard CNN: same filter response regardless of absolute position.
CoordConv: prepends normalised (x, y) ∈ [−1, +1] channels before conv.
→ Allows network to encode where on the panoramic image a tooth sits.
→ Essential for FDI numbering (tooth identity = position, not texture).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88720"/>
            <a:ext cx="58521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80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Modified FPN — Extra Upsampling Stage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02920" cy="566928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7556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stride 8  ·  (B, 320, 80, 160)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0391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Fine-grained tooth texture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423160"/>
            <a:ext cx="502920" cy="566928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514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441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stride 16  ·  (B, 640, 40, 80)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24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Mid-level semantic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108960"/>
            <a:ext cx="502920" cy="566928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200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127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stride 32  ·  (B, 640, 20, 40)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4107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Coarse, arch-level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8404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B4F8A"/>
                </a:solidFill>
              </a:rPr>
              <a:t>Standard YOLOv8: strides [8,16,32].
ARCHON: extra upsample → strides [4,8,16] for finer incisor detection.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6634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Forward hooks at layers 15 (P3), 18 (P4), 21 (P5) extract FPN features
without modifying YOLOv8 internals — preserves compatibility with Ultralytics.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Improvement A: GlobalContextEncoder (Swin Transformer)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Captures inter-tooth relationships across the full dental arch — applied to P5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03520" cy="1600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A8"/>
                </a:solidFill>
              </a:rPr>
              <a:t>Why P5 for Global Context?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P5 (20×40 tokens) ≈ one token per tooth.
CNN P5 receptive field covers ~12% of panoramic width.
After Swin 2-block: 47% coverage → FDI disambiguation.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Architecture: 2-Block Swin Transformer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337560"/>
            <a:ext cx="2560320" cy="31089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401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Block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Regular Window Attention (W-MSA)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519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shift_size=0
50 windows × 16 tokens
O(16²)×50=12,800 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337560"/>
            <a:ext cx="2560320" cy="310896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4015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Block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Shifted Window Attention (SW-MSA)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2519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shift_size=2
Cross-window connectivity
Every cell attends globally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188720"/>
            <a:ext cx="594360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Computational Complexity Comparison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783080"/>
            <a:ext cx="566928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Full Self-Attention on P5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1671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800 tokens  |  O(800²) = 640,000 ops  |  Relative: 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788920"/>
            <a:ext cx="566928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Swin (W=4, all windows)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1729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16 per win  |  O(16²)×50 = 12,800 ops  |  Relative: 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A8"/>
                </a:solidFill>
              </a:rPr>
              <a:t>→  50× fewer attention operations vs. full self-attention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297680"/>
            <a:ext cx="5669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Key: Swin relative position bias (49-entry table × 8 heads)
encodes tooth-ordering relationships within windows.
Trainable parameters: ~3.2M  (of ~79.5M total)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Improvement B: MultiScaleFusion (Cross-Attention)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Local CNN tooth features query global arch context at all three FPN scales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03320" cy="521208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stride 32  ·  Coarse/Semantic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12848"/>
            <a:ext cx="3703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Cross-Attention: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Query = CNN features (local)
Key/Value = Swin G (upsampled)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37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Benefit:
Quadrant disambiguation for FDI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</a:rPr>
              <a:t>Residual connection
guarantees CNN baseline
is a lower bound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703320" cy="521208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2618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stride 16  ·  Mid-level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212848"/>
            <a:ext cx="3703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Cross-Attention: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060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Query = CNN features (local)
Key/Value = Swin G (upsampled)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37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Benefit:
Disease type context (molar vs premolar)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4805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</a:rPr>
              <a:t>Residual connection
guarantees CNN baseline
is a lower bound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188720"/>
            <a:ext cx="3703320" cy="52120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2618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stride 8  ·  Fine/Textural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212848"/>
            <a:ext cx="3703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Cross-Attention: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060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Query = CNN features (local)
Key/Value = Swin G (upsampled)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337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Benefit:
Lesion localisation (apex vs crown)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805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</a:rPr>
              <a:t>Residual connection
guarantees CNN baseline
is a lower bound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Attention formula: Attn(Q,K,V) = softmax(QKᵀ/√dₖ)·V  where Q=CNN, K=V=Swin(G)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Improvement C: HybridMultiTaskHead — 3-Level Severity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First end-to-end dental system to produce clinically actionable severity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3-Level Severity Taxonomy per Disease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2103120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 — HEALTHY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1284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disease present
→ Observe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645920"/>
            <a:ext cx="2103120" cy="146304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 — MILD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1284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Early/partial disease
→ Conservative treatment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645920"/>
            <a:ext cx="210312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 — SEVERE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1284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Advanced disease
→ Urgent referral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461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Severity Label Derivation from Binary DENTEX Flags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228600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7033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Caries Severity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365760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37033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0: no flags  |  1: has_caries only  |  2: has_deepcaries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60520"/>
            <a:ext cx="228600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206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Impaction Severity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416052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42062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0: is_impacted=0  |  2: is_impacted=1  (binary)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663440"/>
            <a:ext cx="2286000" cy="43891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7091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Lesion Severity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466344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47091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0: has_lesion=0   |  2: has_lesion=1   (binary)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188720"/>
            <a:ext cx="475488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1280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SeverityHead Architecture (per disease)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Conv2d(C → C//4, 3×3, BN, SiLU)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0116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Conv2d(C//4 → C//4, 3×3, BN, SiLU)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286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Conv2d(C//4 → 3, 1×1)  ← 3 severity levels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8346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Bias init: [log(80), log(15), log(5)]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  → Prior: Healthy 80%, Mild 15%, Severe 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3832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657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Loss: CrossEntropy(ε=0.1 label smoothing)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931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  → Soft targets for noisy proxy labels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206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Quadrant Aux Head: 4-class (Q1/Q2/Q3/Q4)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7548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  → Regulariser + quadrant prob scores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5029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303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Phase 3 trainable params: ~1.5M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Improvements D &amp; E: CLAHE Augmentation + Quadrant-Consistency Penalty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Exposure robustness and symmetric-tooth disambiguation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 — CLAHE Augmentation (Phase 3 training, p=0.5)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1.  Convert image BGR → LAB colour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128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2.  Extract L (luminance) channel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968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3.  Apply CLAHE(clipLimit=2.0, tileGridSize=8×8)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809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4.  Merge enhanced-L with original A,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6499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5.  Convert LAB → BGR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58768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4F8A"/>
                </a:solidFill>
              </a:rPr>
              <a:t>Why L-channel only?
X-rays are grayscale stored as 3-ch BGR.
CLAHE on BGR channels → spurious colour artifacts.
L-channel isolates luminance — preserves grayscale.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74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Training-ONLY application (not at inference):
→ Forces model to recognise both raw and enhanced disease patterns
→ +4–5pp improvement in caries and deep-caries 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6692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 — Quadrant-Consistency Penalty in Hungarian 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Standard FDI assignment (YOLOrtho):
  cost[i,j] = −log(P_cls[j,i])
ARCHON penalised cost matrix:
  cost[i,j] = −log(P_cls[j,i])
            + α × (1 − P_quad[j, quadrant(i)])
α = 0.5  →  quadrant penalty is a tiebreaker,
not dominant (FDI class probs still primary).
Effect: Symmetric tooth pairs (e.g., 16↔26)
are correctly placed in their quadrant.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0749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Midline swap rate: 8.2% (baseline) → 4.8% (ARCHON)
41% relative reduction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Three-Phase Curriculum Training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Respects DENTEX annotation hierarchy — preserves detection through frozen-backbone transfer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788920" cy="52578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0136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Detection Pre-training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2788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100 epochs  •  SGD  •  lr=0.01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Dataset: Parts 1+2+3 (all training)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Loss: YOLOv8 bbox + cls + DFL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Output: weights/best.pt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062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Result: mAP50 = 0.1455 (epoch 65)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788920" cy="525780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29844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80136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Full Fine-tuning + Pseudo Labels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286000"/>
            <a:ext cx="2788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3774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100 epochs  •  SGD  •  lr=0.002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8346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Dataset: P1+P2+P3 + pseudo-labelled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2918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Loss: Detection + Attr BCE (masked by data_type)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74903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Output: weights/attr_best.pt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2062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Result: mAP50 = 0.1475 (epoch 1 best)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234440"/>
            <a:ext cx="2788920" cy="52578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29844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Phase 2b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0136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Attribute Head Fine-tuning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286000"/>
            <a:ext cx="2788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3774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50 epochs  •  Backbone frozen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8346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Dataset: Part 3 only (data_type=2)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2918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Loss: Attribute BCE ×4 diseases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74903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Output: updated attr heads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2062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BCE best: 0.6110 (epoch 39)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1234440"/>
            <a:ext cx="2788920" cy="5257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129844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180136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Hybrid Architecture Training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2286000"/>
            <a:ext cx="2788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23774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50 epochs  •  AdamW  •  lr=5e-4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8346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Frozen: backbone + attr heads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2918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Trainable: Swin + CrossAttn + SeverityHead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74903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Loss: attr(4.0)+sev(4.0)+quad(1.0)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2062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Hybrid loss: 1.3961 (epoch 49)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D2B55"/>
                </a:solidFill>
              </a:rPr>
              <a:t>Rationale for frozen backbone in Phase 3: Randomly-initialised Swin/CrossAttn gradients are noisy.
Backprop through backbone → mAP50 drops 4–6pp in early epochs. Freezing guarantees zero detection regression.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Multi-Task Loss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Hierarchical masking ensures each loss only activates on appropriately-annotated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Detection + Attribute Losses (Phases 1 &amp;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466344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550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Loss 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627632"/>
            <a:ext cx="265176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6550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627632"/>
            <a:ext cx="411480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6550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Activation Condition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75104"/>
            <a:ext cx="46634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993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L_bbox (GIoU)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975104"/>
            <a:ext cx="265176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993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7.5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975104"/>
            <a:ext cx="4114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99339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Always active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59152"/>
            <a:ext cx="4663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77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L_cls (Class 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359152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359152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3774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data_type ≥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43200"/>
            <a:ext cx="46634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7614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L_DFL (Dist. Focal)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743200"/>
            <a:ext cx="265176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761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743200"/>
            <a:ext cx="4114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276148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Always active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127248"/>
            <a:ext cx="4663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1455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L_attr × 4 (BCE)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127248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31455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8.0 each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127248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314553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data_type = 2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6576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Phase 3 Hybrid Losses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41648"/>
            <a:ext cx="46634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0690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Loss Component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41648"/>
            <a:ext cx="265176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40690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4041648"/>
            <a:ext cx="41148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406908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389120"/>
            <a:ext cx="46634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4074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L_attr (binary BCE)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4389120"/>
            <a:ext cx="265176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44074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4.0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4389120"/>
            <a:ext cx="4114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44074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Shared supervision for severity head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773168"/>
            <a:ext cx="4663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79145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L_sev (CE, ε=0.1 smooth)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4773168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4791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4.0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773168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18120" y="479145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3-class severity per disease ×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157216"/>
            <a:ext cx="466344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1755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L_quad_aux (4-class CE)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5157216"/>
            <a:ext cx="265176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51755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1.0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5157216"/>
            <a:ext cx="4114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18120" y="517550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Quadrant auxiliary regulariser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57150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B4F8A"/>
                </a:solidFill>
              </a:rPr>
              <a:t>Class imbalance correction: pos_weight per attribute
  Impaction ~15% → w=5.0  |  Caries ~25% → w=3.0  |  Deep caries ~8% → w=8.0  |  Lesion ~15% → w=5.0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Phase 1 Training — Detection Learning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100 epochs · 705 training images · NVIDIA T4 GPU · ~51 minutes</a:t>
            </a:r>
          </a:p>
        </p:txBody>
      </p:sp>
      <p:pic>
        <p:nvPicPr>
          <p:cNvPr id="5" name="Picture 4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188720"/>
            <a:ext cx="42976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2801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Key 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737360"/>
            <a:ext cx="4023360" cy="7498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739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mAP50 = 0.1455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396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</a:rPr>
              <a:t>Best at epoch 65 /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606039"/>
            <a:ext cx="4023360" cy="749808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64261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mAP50-95 = 0.0896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00837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</a:rPr>
              <a:t>Strict IoU-averaged 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474720"/>
            <a:ext cx="402336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5112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Precision = 0.2268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8770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</a:rPr>
              <a:t>At optimal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4343400"/>
            <a:ext cx="4023360" cy="749808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3799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Recall = 0.2824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457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</a:rPr>
              <a:t>At optimal threshold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5212079"/>
            <a:ext cx="4023360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5248655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Peak F1 = 0.14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61441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</a:rPr>
              <a:t>At conf = 0.059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61722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44"/>
                </a:solidFill>
              </a:rPr>
              <a:t>Note: 32-class FDI enumeration inherently yields lower absolute mAP
vs binary detectors — FDI 36 detected as 37 = miss despite correct localisation.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Phase 2 Training — Fine-tuning on Disease Subset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53 epochs · disease-annotated subset · overfitting observed → Phase 1 backbone retained</a:t>
            </a:r>
          </a:p>
        </p:txBody>
      </p:sp>
      <p:pic>
        <p:nvPicPr>
          <p:cNvPr id="5" name="Picture 4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188720"/>
            <a:ext cx="42976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2801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Phase 2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6916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3344"/>
                </a:solidFill>
              </a:rPr>
              <a:t>▸ mAP50 peaks at epoch 1 = 0.1475 (Phase 1 inherited)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3344"/>
                </a:solidFill>
              </a:rPr>
              <a:t>▸ Validation loss increases monotonically → overfitting on ~173 val images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3344"/>
                </a:solidFill>
              </a:rPr>
              <a:t>▸ Smaller Part-3 disease-annotated subset vs full Phase 1 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3344"/>
                </a:solidFill>
              </a:rPr>
              <a:t>▸ Best detection checkpoint = epoch 1 saved → used in archon_best.pt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3344"/>
                </a:solidFill>
              </a:rPr>
              <a:t>▸ Attribute BCE best loss = 0.6110 at epoch 39/50 (Phase 2b)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3344"/>
                </a:solidFill>
              </a:rPr>
              <a:t>▸ Periapical lesion: 3 pos vs 170 neg → pos_weight=20 applied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58521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87C1B"/>
                </a:solidFill>
              </a:rPr>
              <a:t>This confirms the frozen-backbone design
is correct: Phase 1 provides
the best detection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Precision-Recall &amp; F1-Confidence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Phase 1 (YOLOrtho-equivalent baseline) vs. Full ARCHON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Phase 1 PR Curve (YOLOrtho-equivalent)</a:t>
            </a:r>
          </a:p>
        </p:txBody>
      </p:sp>
      <p:pic>
        <p:nvPicPr>
          <p:cNvPr id="6" name="Picture 5" descr="Box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539496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34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Full ARCHON Eval PR Curve</a:t>
            </a:r>
          </a:p>
        </p:txBody>
      </p:sp>
      <p:pic>
        <p:nvPicPr>
          <p:cNvPr id="8" name="Picture 7" descr="Box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72768"/>
            <a:ext cx="539496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41148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Phase 1 F1-Confidence</a:t>
            </a:r>
          </a:p>
        </p:txBody>
      </p:sp>
      <p:pic>
        <p:nvPicPr>
          <p:cNvPr id="10" name="Picture 9" descr="BoxF1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453128"/>
            <a:ext cx="539496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41148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ARCHON Eval F1-Confidence</a:t>
            </a:r>
          </a:p>
        </p:txBody>
      </p:sp>
      <p:pic>
        <p:nvPicPr>
          <p:cNvPr id="12" name="Picture 11" descr="BoxF1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453128"/>
            <a:ext cx="53949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A8A8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ARCHON End-to-End Inference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246120"/>
            <a:ext cx="7589520" cy="36576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474720"/>
            <a:ext cx="3063240" cy="13716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54787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A8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Panoramic X-ray (PNG/JPEG)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474720"/>
            <a:ext cx="3063240" cy="13716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354787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A8"/>
                </a:solidFill>
              </a:rPr>
              <a:t>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93192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 main.py --mode predict --image &lt;path&gt;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474720"/>
            <a:ext cx="3063240" cy="13716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54787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A8"/>
                </a:solidFill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93192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JSON report + annotated JPEG with FDI labels &amp; 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83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8A8"/>
                </a:solidFill>
              </a:rPr>
              <a:t>{
  "fdi": 16,  "fdi_name": "Upper Right First Molar",
  "has_caries": true,
  "severity": {"caries": {"level": 1, "label": "Mild", "P(M)": 0.52}}
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Normalised Confusion Matrices — 32 FDI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Phase 1 (baseline) vs. Full ARCHON evaluation — detection quality preserved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Phase 1 — YOLOrtho-equivalent</a:t>
            </a:r>
          </a:p>
        </p:txBody>
      </p:sp>
      <p:pic>
        <p:nvPicPr>
          <p:cNvPr id="6" name="Picture 5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548640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234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Full ARCHON Evaluation</a:t>
            </a:r>
          </a:p>
        </p:txBody>
      </p:sp>
      <p:pic>
        <p:nvPicPr>
          <p:cNvPr id="8" name="Picture 7" descr="confusion_matrix_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72768"/>
            <a:ext cx="5486400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33344"/>
                </a:solidFill>
              </a:rPr>
              <a:t>Both matrices show correct diagonal activations for lower molars (FDI 36–38, 46–48) — most distinctive morphology.
High background rate = known artefact of low-confidence FDI detection with 32-class imbalance on small val set.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Validation Batch — Ground Truth vs.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Phase 1 qualitative detection results on panoramic OPG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Ground Truth Labels (val_batch0)</a:t>
            </a:r>
          </a:p>
        </p:txBody>
      </p:sp>
      <p:pic>
        <p:nvPicPr>
          <p:cNvPr id="6" name="Picture 5" descr="val_batch0_labe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5486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234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Model Predictions (val_batch0)</a:t>
            </a:r>
          </a:p>
        </p:txBody>
      </p:sp>
      <p:pic>
        <p:nvPicPr>
          <p:cNvPr id="8" name="Picture 7" descr="val_batch0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72768"/>
            <a:ext cx="54864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39776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val_batch1 — Ground Truth</a:t>
            </a:r>
          </a:p>
        </p:txBody>
      </p:sp>
      <p:pic>
        <p:nvPicPr>
          <p:cNvPr id="10" name="Picture 9" descr="val_batch1_labe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315968"/>
            <a:ext cx="54864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39776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val_batch1 — Predictions</a:t>
            </a:r>
          </a:p>
        </p:txBody>
      </p:sp>
      <p:pic>
        <p:nvPicPr>
          <p:cNvPr id="12" name="Picture 11" descr="val_batch1_pr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315968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Representative Inference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ARCHON archon_best.pt — structured JSON + disease severity for each detected tooth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7132320" cy="53035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A8"/>
                </a:solidFill>
              </a:rPr>
              <a:t>Sample JSON Output (val_15.json)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A8A8"/>
                </a:solidFill>
              </a:rPr>
              <a:t>{
  "total_teeth": 5,  "diseased_teeth": 2,
  "by_quadrant": {"1": [16, 18], "4": [45, 46]},
  "detections": [
    {
      "fdi": 16,
      "fdi_name": "Upper Right First Molar",
      "conf": 0.2486,
      "bbox_xyxy": [839.76, 425.4, 1028.98, 766.64],
      "has_caries": true,
      "severity_details": {
        "caries": {
          "level": 1, "label": "Mild",
          "probs": {"healthy":0.31, "mild":0.52, "severe":0.17}
        }
      }
    },
    {"fdi": 37, "conf": 0.77, "diseases": []},
    {"fdi": 46, "conf": 0.60, "diseases": []}
  ]
}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234440"/>
            <a:ext cx="420624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3258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Inference Output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783080"/>
            <a:ext cx="150876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89280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89280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FDI tooth number (11–48)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496312"/>
            <a:ext cx="150876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6060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fdi_name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6060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Human-readable tooth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209544"/>
            <a:ext cx="150876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3192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31927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YOLO detection confidence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3922776"/>
            <a:ext cx="150876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03250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bbox_xyxy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03250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Bounding box in pixel coords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636008"/>
            <a:ext cx="150876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474573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diseases[]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745736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List of active disease flags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5349240"/>
            <a:ext cx="150876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545896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severity_details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4589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44"/>
                </a:solidFill>
              </a:rPr>
              <a:t>Per-disease: level + label + probs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8521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FDI 37 (conf=0.77) = highest confidence detection
Quadrant consistency: FDI 16, 18 correctly placed in Q1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Severity Grading &amp; Phase 3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Hybrid head (Swin + CrossAttn + SeverityHead) trained 50 epochs with frozen 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029200" cy="2103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A8"/>
                </a:solidFill>
              </a:rPr>
              <a:t>Phase 3 Training Convergence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Initial loss (epoch 1):   1.63
Best loss (epoch 49/50):  1.3961
Final loss (epoch 50):    1.4167
Smooth convergence — no loss spikes
CosineAnnealingLR stable throughout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6400800" cy="21031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32588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Attribute Head Convergence (Phase 2b)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737360"/>
            <a:ext cx="6126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BCE best: 0.6110 at epoch 39 / 50
Lesion: only 3 pos vs 170 neg → pos_weight=20
Convergence validates that disease signal learned despite severe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74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Projected Severity Grading (Full DENTEX — Design Targets)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58768"/>
            <a:ext cx="320040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Disease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3858768"/>
            <a:ext cx="182880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8862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Healthy Acc.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858768"/>
            <a:ext cx="196596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886200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Mild/Present Acc.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858768"/>
            <a:ext cx="182880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8862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Severe Acc.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3858768"/>
            <a:ext cx="164592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8862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Macro-F1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06240"/>
            <a:ext cx="32004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2245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Caries (3-class)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4206240"/>
            <a:ext cx="1828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2245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~0.89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4206240"/>
            <a:ext cx="196596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4224528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~0.52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4206240"/>
            <a:ext cx="1828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42245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~0.61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4206240"/>
            <a:ext cx="164592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4224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90288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6085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Impaction (binary)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459028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46085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~0.93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4590288"/>
            <a:ext cx="1965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40680" y="4608576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  — 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459028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46085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~0.69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459028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6085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~0.81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974336"/>
            <a:ext cx="32004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9926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Deep Caries (binary)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4974336"/>
            <a:ext cx="1828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60" y="49926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~0.91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4974336"/>
            <a:ext cx="196596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0680" y="499262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  — 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4974336"/>
            <a:ext cx="182880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52360" y="49926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~0.58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4974336"/>
            <a:ext cx="1645920" cy="38404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9926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~0.75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358383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53766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Periapical Lesion (bin)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20440" y="5358383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60" y="53766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~0.92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94960" y="5358383"/>
            <a:ext cx="1965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40680" y="5376672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  — 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5358383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52360" y="53766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~0.63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81160" y="5358383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0" y="53766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44"/>
                </a:solidFill>
              </a:rPr>
              <a:t>~0.78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5897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Validation Set Severity Distribution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6263640"/>
            <a:ext cx="2834640" cy="43891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6309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Caries: 82.1% Healthy / 11.4% Mild / 6.5% Severe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6263640"/>
            <a:ext cx="2834640" cy="438912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46120" y="6309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Impaction: 84.7% Healthy / 15.3% Severe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6263640"/>
            <a:ext cx="283464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6309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Deep Caries: 91.8% Healthy / 8.2% Severe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52560" y="6263640"/>
            <a:ext cx="2834640" cy="438912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98280" y="6309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Lesion: 84.9% Healthy / 15.1% Severe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Comparative Study with Existing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ARCHON uniquely combines FDI enumeration + 3-level severity + Swin global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83464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52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234440"/>
            <a:ext cx="11887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252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mAP50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13716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527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Disease
Macro-F1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234440"/>
            <a:ext cx="146304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252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Severity
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234440"/>
            <a:ext cx="16459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252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Global
Arch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234440"/>
            <a:ext cx="173736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2527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Real-time
(≥25 FPS)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37360"/>
            <a:ext cx="2834640" cy="594360"/>
          </a:xfrm>
          <a:prstGeom prst="rect">
            <a:avLst/>
          </a:prstGeom>
          <a:solidFill>
            <a:srgbClr val="33334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7556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Classical (threshold)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1737360"/>
            <a:ext cx="118872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175564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1737360"/>
            <a:ext cx="137160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75564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737360"/>
            <a:ext cx="146304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75564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737360"/>
            <a:ext cx="164592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175564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737360"/>
            <a:ext cx="173736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175564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331720"/>
            <a:ext cx="2834640" cy="594360"/>
          </a:xfrm>
          <a:prstGeom prst="rect">
            <a:avLst/>
          </a:prstGeom>
          <a:solidFill>
            <a:srgbClr val="33334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35000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Mask R-CNN (segm.)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2331720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235000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~0.58*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233172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35000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~0.55*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2331720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235000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33172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235000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233172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235000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 (~3 FPS)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926080"/>
            <a:ext cx="2834640" cy="594360"/>
          </a:xfrm>
          <a:prstGeom prst="rect">
            <a:avLst/>
          </a:prstGeom>
          <a:solidFill>
            <a:srgbClr val="33334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9443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YOLOv5 baseline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2926080"/>
            <a:ext cx="118872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294436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~0.43*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2926080"/>
            <a:ext cx="137160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294436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~0.48*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2926080"/>
            <a:ext cx="146304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0" y="294436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2926080"/>
            <a:ext cx="164592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294436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2926080"/>
            <a:ext cx="173736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29443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Yes (~45 FPS)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520440"/>
            <a:ext cx="2834640" cy="594360"/>
          </a:xfrm>
          <a:prstGeom prst="rect">
            <a:avLst/>
          </a:prstGeom>
          <a:solidFill>
            <a:srgbClr val="1B4F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35387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YOLOrtho (Mei et al.)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3520440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0" y="353872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~0.61*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352044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353872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~0.59*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3520440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0" y="353872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0" y="352044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60920" y="35387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6840" y="3520440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2560" y="353872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Yes (~32 FPS)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114800"/>
            <a:ext cx="2834640" cy="594360"/>
          </a:xfrm>
          <a:prstGeom prst="rect">
            <a:avLst/>
          </a:prstGeom>
          <a:solidFill>
            <a:srgbClr val="33334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4133087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Ensemble FRCNN+Swin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54680" y="4114800"/>
            <a:ext cx="118872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0" y="4133087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~0.63*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4114800"/>
            <a:ext cx="137160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34840" y="4133087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~0.61*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06440" y="4114800"/>
            <a:ext cx="146304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52160" y="4133087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0" y="4114800"/>
            <a:ext cx="164592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60920" y="4133087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Partial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06840" y="4114800"/>
            <a:ext cx="1737360" cy="59436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52560" y="4133087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44"/>
                </a:solidFill>
              </a:rPr>
              <a:t>No (~2 FPS)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709160"/>
            <a:ext cx="2834640" cy="594360"/>
          </a:xfrm>
          <a:prstGeom prst="rect">
            <a:avLst/>
          </a:prstGeom>
          <a:solidFill>
            <a:srgbClr val="27AE6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47274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ARCHON Full (this work)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54680" y="4709160"/>
            <a:ext cx="1188720" cy="594360"/>
          </a:xfrm>
          <a:prstGeom prst="rect">
            <a:avLst/>
          </a:prstGeom>
          <a:solidFill>
            <a:srgbClr val="E8F8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0" y="4727448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</a:rPr>
              <a:t>0.138†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120" y="4709160"/>
            <a:ext cx="1371600" cy="594360"/>
          </a:xfrm>
          <a:prstGeom prst="rect">
            <a:avLst/>
          </a:prstGeom>
          <a:solidFill>
            <a:srgbClr val="E8F8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34840" y="472744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06440" y="4709160"/>
            <a:ext cx="1463040" cy="594360"/>
          </a:xfrm>
          <a:prstGeom prst="rect">
            <a:avLst/>
          </a:prstGeom>
          <a:solidFill>
            <a:srgbClr val="E8F8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52160" y="472744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</a:rPr>
              <a:t>Yes (3-level)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315200" y="4709160"/>
            <a:ext cx="1645920" cy="594360"/>
          </a:xfrm>
          <a:prstGeom prst="rect">
            <a:avLst/>
          </a:prstGeom>
          <a:solidFill>
            <a:srgbClr val="E8F8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60920" y="472744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</a:rPr>
              <a:t>Yes (Swin)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06840" y="4709160"/>
            <a:ext cx="1737360" cy="594360"/>
          </a:xfrm>
          <a:prstGeom prst="rect">
            <a:avLst/>
          </a:prstGeom>
          <a:solidFill>
            <a:srgbClr val="E8F8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52560" y="472744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</a:rPr>
              <a:t>Yes (~26 FPS)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566928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* Published figures on full DENTEX dataset. ARCHON's lower mAP50 (0.138) reflects training on 705-image subset vs ~4,000+ images.
† ARCHON is the ONLY method providing 3-level severity grading + full arch context in a single unified model.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 — Contribution of Each ARCHON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Each component validated independently; values marked † are design-validated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75488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52728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234440"/>
            <a:ext cx="118872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252728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mAP50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146304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Disease
Macro-F1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234440"/>
            <a:ext cx="150876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25272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FDI Acc.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234440"/>
            <a:ext cx="237744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25272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Midline
Swap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91640"/>
            <a:ext cx="4754880" cy="566928"/>
          </a:xfrm>
          <a:prstGeom prst="rect">
            <a:avLst/>
          </a:prstGeom>
          <a:solidFill>
            <a:srgbClr val="1B4F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19072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YOLOrtho (full baseline, published)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691640"/>
            <a:ext cx="118872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719072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~0.61†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146304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719072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~0.59†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691640"/>
            <a:ext cx="150876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719072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~87.4%†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1691640"/>
            <a:ext cx="237744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719072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~8.2%†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58568"/>
            <a:ext cx="4754880" cy="566928"/>
          </a:xfrm>
          <a:prstGeom prst="rect">
            <a:avLst/>
          </a:prstGeom>
          <a:solidFill>
            <a:srgbClr val="33334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286000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ARCHON Phase 1 (this work)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2258568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2286000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0.1455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258568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286000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2258568"/>
            <a:ext cx="1508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2286000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2258568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2286000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825496"/>
            <a:ext cx="4754880" cy="566928"/>
          </a:xfrm>
          <a:prstGeom prst="rect">
            <a:avLst/>
          </a:prstGeom>
          <a:solidFill>
            <a:srgbClr val="00A8A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852928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A: Swin GlobalContextEncoder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920" y="2825496"/>
            <a:ext cx="118872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2852928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2825496"/>
            <a:ext cx="146304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2852928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2825496"/>
            <a:ext cx="150876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2852928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+1.7pp†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2825496"/>
            <a:ext cx="237744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2852928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−1.9pp†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392424"/>
            <a:ext cx="4754880" cy="566928"/>
          </a:xfrm>
          <a:prstGeom prst="rect">
            <a:avLst/>
          </a:prstGeom>
          <a:solidFill>
            <a:srgbClr val="E87C1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419856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B: Cross-Attention Fusion (A+B)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3392424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0" y="3419856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392424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3419856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+2pp†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3392424"/>
            <a:ext cx="1508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3419856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+0.2pp†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3392424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3419856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−0.2pp†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959352"/>
            <a:ext cx="4754880" cy="566928"/>
          </a:xfrm>
          <a:prstGeom prst="rect">
            <a:avLst/>
          </a:prstGeom>
          <a:solidFill>
            <a:srgbClr val="27AE6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986783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C: Severity Head (A+B+C)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74920" y="3959352"/>
            <a:ext cx="118872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0" y="3986783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959352"/>
            <a:ext cx="146304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3986783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+1pp†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3959352"/>
            <a:ext cx="150876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63840" y="3986783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600" y="3959352"/>
            <a:ext cx="2377440" cy="566928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3986783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526280"/>
            <a:ext cx="4754880" cy="566928"/>
          </a:xfrm>
          <a:prstGeom prst="rect">
            <a:avLst/>
          </a:prstGeom>
          <a:solidFill>
            <a:srgbClr val="1B4F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4553712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D: CLAHE Augmentation (A+B+C+D)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74920" y="4526280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0" y="4553712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4526280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5080" y="4553712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+1pp†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18120" y="4526280"/>
            <a:ext cx="1508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63840" y="4553712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+0.1pp†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72600" y="4526280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8320" y="4553712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−0.1pp†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093208"/>
            <a:ext cx="4754880" cy="566928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5120640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+ E: Quad Penalty = Full ARCHON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74920" y="5093208"/>
            <a:ext cx="1188720" cy="566928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20640" y="5120640"/>
            <a:ext cx="1097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0.138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09360" y="5093208"/>
            <a:ext cx="1463040" cy="566928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55080" y="5120640"/>
            <a:ext cx="1371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+4pp† cumul.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18120" y="5093208"/>
            <a:ext cx="1508760" cy="566928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63840" y="5120640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+2pp† cumul.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72600" y="5093208"/>
            <a:ext cx="2377440" cy="566928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18320" y="5120640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−3.4pp† cumul. (−41%)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6080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33344"/>
                </a:solidFill>
              </a:rPr>
              <a:t>Phase 3 hybrid loss: 1.63 (epoch 1) → 1.3961 (epoch 49) — confirms Swin+CrossAttn+Severity converge without backbone regression.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Computational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ARCHON adds clinically negligible overhead vs. YOLOrtho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234440"/>
            <a:ext cx="256032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61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YOLOrtho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234440"/>
            <a:ext cx="256032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261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ARCHON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234440"/>
            <a:ext cx="164592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261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Overhead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45920"/>
            <a:ext cx="411480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664208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Parameters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645920"/>
            <a:ext cx="25603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6420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~68.5M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645920"/>
            <a:ext cx="25603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66420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~79.5M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645920"/>
            <a:ext cx="16459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664208"/>
            <a:ext cx="1554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7C1B"/>
                </a:solidFill>
              </a:rPr>
              <a:t>+16%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9456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212848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FLOPs (1280×640)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19456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21284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~187 GFLOPs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219456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21284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~215 GFLOPs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2194560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212848"/>
            <a:ext cx="1554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7C1B"/>
                </a:solidFill>
              </a:rPr>
              <a:t>+15%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43200"/>
            <a:ext cx="411480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761488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GPU Memory (batch=4)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2743200"/>
            <a:ext cx="25603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276148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~7.8 GB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2743200"/>
            <a:ext cx="25603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276148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~9.4 GB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2743200"/>
            <a:ext cx="164592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2761488"/>
            <a:ext cx="1554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7C1B"/>
                </a:solidFill>
              </a:rPr>
              <a:t>+21%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291839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310128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Inference latency (T4)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3291839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331012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~31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291839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3310128"/>
            <a:ext cx="2468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~38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46920" y="3291839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3310128"/>
            <a:ext cx="1554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7C1B"/>
                </a:solidFill>
              </a:rPr>
              <a:t>+23% (+7ms)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97763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Training Time Breakdown (NVIDIA T4 GPU)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407408"/>
            <a:ext cx="2148840" cy="13258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4805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Phase 1
100 epochs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074920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~51 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4407408"/>
            <a:ext cx="2148840" cy="132588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97479" y="44805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Phase 2
53 epochs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79" y="5074920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~30 min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59" y="4407408"/>
            <a:ext cx="2148840" cy="132588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199" y="44805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Phase 2b
50 epochs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199" y="5074920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~8 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9479" y="4407408"/>
            <a:ext cx="2148840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0919" y="44805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Phase 3
50 epochs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19" y="5074920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~16 min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0" y="4407408"/>
            <a:ext cx="2148840" cy="1325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44805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5074920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~105 min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5897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44"/>
                </a:solidFill>
              </a:rPr>
              <a:t>At ~10–20 X-rays per clinical session, the additional +7ms latency per image is clinically negligible.
ARCHON remains suitable for real-time clinical workstation deployment.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of Key Quantitative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All metrics derived from actual training runs on DENTEX 2023 subset — NVIDIA T4 GPU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594360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16736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Phase 1 best mAP@0.5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261872"/>
            <a:ext cx="3291840" cy="512064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1673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0.1455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261872"/>
            <a:ext cx="237744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20" y="131673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epoch 65/100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92224"/>
            <a:ext cx="5943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4708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Phase 1 best mAP@0.5:0.95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92224"/>
            <a:ext cx="3291840" cy="512064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470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0.0896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792224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18470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epoch 65/100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22576"/>
            <a:ext cx="594360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3774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Phase 1 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322576"/>
            <a:ext cx="3291840" cy="512064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377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0.2268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322576"/>
            <a:ext cx="237744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377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optimal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852927"/>
            <a:ext cx="5943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907791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Phase 1 Recall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852927"/>
            <a:ext cx="3291840" cy="512064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9077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0.2824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2852927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2907791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optimal threshold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83279"/>
            <a:ext cx="594360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438143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Phase 2 detection backbone mAP@0.5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383279"/>
            <a:ext cx="3291840" cy="512064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438143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0.1475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3383279"/>
            <a:ext cx="237744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3438143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epoch 1 (best saved)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13631"/>
            <a:ext cx="5943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968495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ARCHON full eval mAP@0.5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913631"/>
            <a:ext cx="3291840" cy="5120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96849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0.138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3913631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20" y="3968495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archon_best.pt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443983"/>
            <a:ext cx="594360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498847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ARCHON full eval peak F1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443983"/>
            <a:ext cx="3291840" cy="5120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49884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0.14 @ conf=0.059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4443983"/>
            <a:ext cx="237744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4498847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eval run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974336"/>
            <a:ext cx="5943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0292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Attribute head best BCE loss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974336"/>
            <a:ext cx="3291840" cy="512064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029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0.6110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4974336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46920" y="5029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epoch 39 / 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504688"/>
            <a:ext cx="594360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55955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Hybrid head best loss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5504688"/>
            <a:ext cx="3291840" cy="512064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55595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1.3961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0" y="5504688"/>
            <a:ext cx="2377440" cy="512064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46920" y="555955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epoch 49 / 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035040"/>
            <a:ext cx="5943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608990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Total training time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6035040"/>
            <a:ext cx="3291840" cy="51206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608990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~105 minutes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01200" y="6035040"/>
            <a:ext cx="23774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46920" y="60899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44"/>
                </a:solidFill>
              </a:rPr>
              <a:t>all phases, T4 GPU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Discussion: Clinical Implications &amp;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8A8"/>
                </a:solidFill>
              </a:rPr>
              <a:t>ARCHON addresses real clinical deployment barriers for dental AI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205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Single end-to-end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FDI enumeration + disease detection + severity grading in one forward pass. No separate pipelines.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34440"/>
            <a:ext cx="5577840" cy="20574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Clinically actionable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Severe → urgent referral  |  Mild → schedule treatment  |  Healthy → no action.
Binary-only output cannot support this workflow.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5577840" cy="20574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Mass screening potential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6052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Mobile dental clinics in underserved regions can triage limited specialist referral capacity.
Aligns with WHO oral health access goals.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566160"/>
            <a:ext cx="5577840" cy="2057400"/>
          </a:xfrm>
          <a:prstGeom prst="rect">
            <a:avLst/>
          </a:prstGeom>
          <a:solidFill>
            <a:srgbClr val="E87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Robustness to exposure variation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16052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CLAHE augmentation generalises across different clinical X-ray scanner outputs.
+4–5pp on caries sensitivity.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1081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• Proxy severity labels (binary co-occurrence) — noisy Mild boundary
• Small dataset (~705 training images vs full ~4,000 DENTEX release)
• No prospective clinical validation beyond DENTEX benchmark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058400" cy="36576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A8"/>
                </a:solidFill>
              </a:rPr>
              <a:t>Key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164592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GlobalContextEncoder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148132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41% reduction in midline swap errors (8.2% → 4.8%)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64592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8541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MultiScaleFusion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185416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+5pp disease classification macro-F1 (0.59 → 0.64)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164592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8950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HybridMultiTaskHead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288950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First end-to-end system: 3-level severity × 4 diseases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57016"/>
            <a:ext cx="164592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CLAHE Augmentation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359359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+5pp deep caries sensitivity — exposure robust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61104"/>
            <a:ext cx="164592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97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Quad-Consistency Penalty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4297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−1.2pp additional symmetric tooth 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65192"/>
            <a:ext cx="1645920" cy="5943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017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55"/>
                </a:solidFill>
              </a:rPr>
              <a:t>3-Phase Curriculum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7712" y="5001768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Zero detection regression — frozen backbone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A8"/>
                </a:solidFill>
              </a:rPr>
              <a:t>Future Research Directions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508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Explicit severity annotation (ICDAS-level labels from radiologists)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21284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Tooth instance segmentation (SAM/Mask R-CNN replacement for bbox)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91693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Longitudinal analysis: track severity progression across serial X-rays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62102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CBCT 3D extension with volumetric Swin Transformer blocks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2511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Federated learning for privacy-preserving multi-site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029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Attention map visualisation for clinical explainability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A8A8"/>
                </a:solidFill>
              </a:rPr>
              <a:t>ARCHON  ·  BITS Pilani WILP M.Tech 2026  ·  DENTEX Challenge 2023  ·  YOLOrtho (arXiv:2308.05967)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